
<file path=[Content_Types].xml><?xml version="1.0" encoding="utf-8"?>
<Types xmlns="http://schemas.openxmlformats.org/package/2006/content-types">
  <Default Extension="1" ContentType="image/jpeg"/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6858000" cy="9144000"/>
  <p:embeddedFontLst>
    <p:embeddedFont>
      <p:font typeface="Lato" panose="020F0502020204030203" pitchFamily="34" charset="0"/>
      <p:regular r:id="rId7"/>
      <p:bold r:id="rId8"/>
      <p:italic r:id="rId9"/>
      <p:boldItalic r:id="rId10"/>
    </p:embeddedFont>
    <p:embeddedFont>
      <p:font typeface="Raleway" pitchFamily="2" charset="0"/>
      <p:regular r:id="rId11"/>
      <p:bold r:id="rId12"/>
      <p:italic r:id="rId13"/>
      <p:boldItalic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623" autoAdjust="0"/>
    <p:restoredTop sz="94660"/>
  </p:normalViewPr>
  <p:slideViewPr>
    <p:cSldViewPr snapToGrid="0">
      <p:cViewPr varScale="1">
        <p:scale>
          <a:sx n="142" d="100"/>
          <a:sy n="142" d="100"/>
        </p:scale>
        <p:origin x="312" y="10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font" Target="fonts/font7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font" Target="fonts/font6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11231f45f93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11231f45f93_0_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1231f45f93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11231f45f93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11231f45f93_0_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11231f45f93_0_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" name="Google Shape;21;p3"/>
          <p:cNvSpPr txBox="1">
            <a:spLocks noGrp="1"/>
          </p:cNvSpPr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6" name="Google Shape;36;p5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body" idx="1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body" idx="2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body" idx="1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3"/>
        </a:solid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9" name="Google Shape;59;p8"/>
          <p:cNvSpPr txBox="1">
            <a:spLocks noGrp="1"/>
          </p:cNvSpPr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0" name="Google Shape;60;p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" name="Google Shape;66;p9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subTitle" idx="1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body" idx="2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9" name="Google Shape;69;p9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>
            <a:spLocks noGrp="1"/>
          </p:cNvSpPr>
          <p:nvPr>
            <p:ph type="body" idx="1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72" name="Google Shape;72;p10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7" name="Google Shape;77;p11"/>
          <p:cNvSpPr txBox="1">
            <a:spLocks noGrp="1"/>
          </p:cNvSpPr>
          <p:nvPr>
            <p:ph type="title" hasCustomPrompt="1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>
            <a:spLocks noGrp="1"/>
          </p:cNvSpPr>
          <p:nvPr>
            <p:ph type="body" idx="1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9" name="Google Shape;79;p1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treamlin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creativecommons.org/licenses/by-nc-sa/3.0/" TargetMode="External"/><Relationship Id="rId4" Type="http://schemas.openxmlformats.org/officeDocument/2006/relationships/hyperlink" Target="https://wecdsbit.blogspot.com/2016/09/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creativecommons.org/licenses/by-nc-sa/3.0/" TargetMode="External"/><Relationship Id="rId4" Type="http://schemas.openxmlformats.org/officeDocument/2006/relationships/hyperlink" Target="https://www.hackerwebsecurity.com/differenza-tra-phishing-spear-phishing-e-watering-hole/phishing/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creativecommons.org/licenses/by-sa/3.0/" TargetMode="External"/><Relationship Id="rId5" Type="http://schemas.openxmlformats.org/officeDocument/2006/relationships/hyperlink" Target="https://commons.wikimedia.org/wiki/File:Warning_icon.svg" TargetMode="Externa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1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www.rawpixel.com/search/security%20guard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>
            <a:spLocks noGrp="1"/>
          </p:cNvSpPr>
          <p:nvPr>
            <p:ph type="ctrTitle"/>
          </p:nvPr>
        </p:nvSpPr>
        <p:spPr>
          <a:xfrm>
            <a:off x="723750" y="1322449"/>
            <a:ext cx="8050456" cy="211999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33" dirty="0"/>
              <a:t>Familiarize yourself with phishing attacks</a:t>
            </a:r>
            <a:br>
              <a:rPr lang="en" sz="2933" dirty="0"/>
            </a:br>
            <a:endParaRPr sz="2933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HR, Marketing, and Card Services identified as most at risk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2D07A2-C53B-7745-FF64-A63FB96D87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7012640" y="3509198"/>
            <a:ext cx="2021541" cy="157275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FB03C5-DE95-20A4-B20E-A80B39CADC54}"/>
              </a:ext>
            </a:extLst>
          </p:cNvPr>
          <p:cNvSpPr txBox="1"/>
          <p:nvPr/>
        </p:nvSpPr>
        <p:spPr>
          <a:xfrm>
            <a:off x="5986182" y="5081958"/>
            <a:ext cx="304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hlinkClick r:id="rId4" tooltip="https://wecdsbit.blogspot.com/2016/09/"/>
              </a:rPr>
              <a:t>This Photo</a:t>
            </a:r>
            <a:r>
              <a:rPr lang="en-US" sz="900"/>
              <a:t> by Unknown Author is licensed under </a:t>
            </a:r>
            <a:r>
              <a:rPr lang="en-US" sz="900">
                <a:hlinkClick r:id="rId5" tooltip="https://creativecommons.org/licenses/by-nc-sa/3.0/"/>
              </a:rPr>
              <a:t>CC BY-SA-NC</a:t>
            </a:r>
            <a:endParaRPr lang="en-US" sz="9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phishing?</a:t>
            </a:r>
            <a:endParaRPr/>
          </a:p>
        </p:txBody>
      </p:sp>
      <p:sp>
        <p:nvSpPr>
          <p:cNvPr id="92" name="Google Shape;92;p14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dirty="0"/>
              <a:t>Phishing =  fake emails pretending to be trusted sources to steal info</a:t>
            </a:r>
          </a:p>
          <a:p>
            <a:pPr marL="285750" indent="-285750">
              <a:spcAft>
                <a:spcPts val="1200"/>
              </a:spcAft>
            </a:pPr>
            <a:r>
              <a:rPr lang="en" dirty="0"/>
              <a:t>Urgent password reset requests</a:t>
            </a:r>
          </a:p>
          <a:p>
            <a:pPr marL="285750" indent="-285750">
              <a:spcAft>
                <a:spcPts val="1200"/>
              </a:spcAft>
            </a:pPr>
            <a:r>
              <a:rPr lang="en" dirty="0"/>
              <a:t>Too-good-to-be-true offers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674FE4F-E919-CF50-C639-C7FE423755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 rot="883825">
            <a:off x="6793109" y="2797509"/>
            <a:ext cx="2387266" cy="227141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6B6CEE6-83C1-7F30-614C-25E9B20420D9}"/>
              </a:ext>
            </a:extLst>
          </p:cNvPr>
          <p:cNvSpPr txBox="1"/>
          <p:nvPr/>
        </p:nvSpPr>
        <p:spPr>
          <a:xfrm rot="1900211">
            <a:off x="5890362" y="5616096"/>
            <a:ext cx="3201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hlinkClick r:id="rId4" tooltip="https://www.hackerwebsecurity.com/differenza-tra-phishing-spear-phishing-e-watering-hole/phishing/"/>
              </a:rPr>
              <a:t>This Photo</a:t>
            </a:r>
            <a:r>
              <a:rPr lang="en-US" sz="900"/>
              <a:t> by Unknown Author is licensed under </a:t>
            </a:r>
            <a:r>
              <a:rPr lang="en-US" sz="900">
                <a:hlinkClick r:id="rId5" tooltip="https://creativecommons.org/licenses/by-nc-sa/3.0/"/>
              </a:rPr>
              <a:t>CC BY-SA-NC</a:t>
            </a:r>
            <a:endParaRPr lang="en-US" sz="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>
              <a:spcAft>
                <a:spcPts val="1200"/>
              </a:spcAft>
              <a:buNone/>
            </a:pPr>
            <a:r>
              <a:rPr lang="en-US" dirty="0"/>
              <a:t>Fake 🚨- HR fell for 75% of these!</a:t>
            </a:r>
            <a:endParaRPr dirty="0"/>
          </a:p>
        </p:txBody>
      </p:sp>
      <p:sp>
        <p:nvSpPr>
          <p:cNvPr id="98" name="Google Shape;98;p15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Learn to spot phishing emails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0AA71DB-A722-BFBD-45BD-B1495EE80D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850" y="2571749"/>
            <a:ext cx="4299119" cy="17682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2527697-0202-8498-FBEF-AA7AE18485F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5193432" y="2714974"/>
            <a:ext cx="1604055" cy="142493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65F8571-5479-3EC0-2B2F-14CB2AB4D737}"/>
              </a:ext>
            </a:extLst>
          </p:cNvPr>
          <p:cNvSpPr txBox="1"/>
          <p:nvPr/>
        </p:nvSpPr>
        <p:spPr>
          <a:xfrm>
            <a:off x="4776519" y="4749267"/>
            <a:ext cx="24781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hlinkClick r:id="rId5" tooltip="https://commons.wikimedia.org/wiki/File:Warning_icon.svg"/>
              </a:rPr>
              <a:t>This Photo</a:t>
            </a:r>
            <a:r>
              <a:rPr lang="en-US" sz="900" dirty="0"/>
              <a:t> by Unknown Author is licensed under </a:t>
            </a:r>
            <a:r>
              <a:rPr lang="en-US" sz="900" dirty="0">
                <a:hlinkClick r:id="rId6" tooltip="https://creativecommons.org/licenses/by-sa/3.0/"/>
              </a:rPr>
              <a:t>CC BY-SA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do we stop getting phished?</a:t>
            </a:r>
            <a:endParaRPr/>
          </a:p>
        </p:txBody>
      </p:sp>
      <p:sp>
        <p:nvSpPr>
          <p:cNvPr id="104" name="Google Shape;104;p16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285750" indent="-285750">
              <a:spcAft>
                <a:spcPts val="1200"/>
              </a:spcAft>
            </a:pPr>
            <a:r>
              <a:rPr lang="en-US" dirty="0"/>
              <a:t>Hover before you click</a:t>
            </a:r>
          </a:p>
          <a:p>
            <a:pPr marL="285750" indent="-285750">
              <a:spcAft>
                <a:spcPts val="1200"/>
              </a:spcAft>
            </a:pPr>
            <a:r>
              <a:rPr lang="en-US" dirty="0"/>
              <a:t>Check the sender’s email address</a:t>
            </a:r>
          </a:p>
          <a:p>
            <a:pPr marL="285750" indent="-285750">
              <a:spcAft>
                <a:spcPts val="1200"/>
              </a:spcAft>
            </a:pPr>
            <a:r>
              <a:rPr lang="en-US" dirty="0"/>
              <a:t>Don’t panic at “URGENT” scare tactics</a:t>
            </a:r>
          </a:p>
          <a:p>
            <a:pPr marL="0" indent="0">
              <a:spcAft>
                <a:spcPts val="1200"/>
              </a:spcAft>
              <a:buNone/>
            </a:pPr>
            <a:endParaRPr lang="en-US" dirty="0"/>
          </a:p>
          <a:p>
            <a:pPr marL="0" indent="0">
              <a:spcAft>
                <a:spcPts val="1200"/>
              </a:spcAft>
              <a:buNone/>
            </a:pPr>
            <a:endParaRPr lang="en-US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000" i="1" dirty="0"/>
              <a:t>Report suspicious emails to the IT Security Team</a:t>
            </a:r>
            <a:endParaRPr sz="1000" i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7FA0419-92FB-B3CF-517D-0554D1EC00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7546041" y="480916"/>
            <a:ext cx="1597959" cy="159795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118</Words>
  <Application>Microsoft Office PowerPoint</Application>
  <PresentationFormat>On-screen Show (16:9)</PresentationFormat>
  <Paragraphs>18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Raleway</vt:lpstr>
      <vt:lpstr>Lato</vt:lpstr>
      <vt:lpstr>Streamline</vt:lpstr>
      <vt:lpstr>Familiarize yourself with phishing attacks  HR, Marketing, and Card Services identified as most at risk</vt:lpstr>
      <vt:lpstr>What is phishing?</vt:lpstr>
      <vt:lpstr>Learn to spot phishing emails</vt:lpstr>
      <vt:lpstr>How do we stop getting phished?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Natascha Martin</dc:creator>
  <cp:lastModifiedBy>Natascha Martin</cp:lastModifiedBy>
  <cp:revision>1</cp:revision>
  <dcterms:modified xsi:type="dcterms:W3CDTF">2025-09-27T16:19:31Z</dcterms:modified>
</cp:coreProperties>
</file>